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2" r:id="rId4"/>
    <p:sldId id="263" r:id="rId5"/>
    <p:sldId id="27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86"/>
    <a:srgbClr val="81104D"/>
    <a:srgbClr val="A01059"/>
    <a:srgbClr val="8C165F"/>
    <a:srgbClr val="A61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37"/>
    <p:restoredTop sz="94694"/>
  </p:normalViewPr>
  <p:slideViewPr>
    <p:cSldViewPr>
      <p:cViewPr varScale="1">
        <p:scale>
          <a:sx n="71" d="100"/>
          <a:sy n="71" d="100"/>
        </p:scale>
        <p:origin x="4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A6009-3769-A342-9CFD-FDDA373EE960}" type="datetimeFigureOut">
              <a:rPr kumimoji="1" lang="ko-Kore-KR" altLang="en-US" smtClean="0"/>
              <a:t>05/10/2026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44905-8964-D647-A9CE-C8B0109741B4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6853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44905-8964-D647-A9CE-C8B0109741B4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8754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A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0D47193A-DBF7-1595-1901-9AD86BD1B8B5}"/>
              </a:ext>
            </a:extLst>
          </p:cNvPr>
          <p:cNvSpPr/>
          <p:nvPr/>
        </p:nvSpPr>
        <p:spPr>
          <a:xfrm>
            <a:off x="0" y="0"/>
            <a:ext cx="18282481" cy="9235983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rgbClr val="81104D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55C455-75FD-2DD9-8B04-7628418A4D25}"/>
              </a:ext>
            </a:extLst>
          </p:cNvPr>
          <p:cNvSpPr/>
          <p:nvPr/>
        </p:nvSpPr>
        <p:spPr>
          <a:xfrm>
            <a:off x="0" y="9235983"/>
            <a:ext cx="18288000" cy="10510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grpSp>
        <p:nvGrpSpPr>
          <p:cNvPr id="1002" name="그룹 1002"/>
          <p:cNvGrpSpPr/>
          <p:nvPr/>
        </p:nvGrpSpPr>
        <p:grpSpPr>
          <a:xfrm>
            <a:off x="0" y="9235983"/>
            <a:ext cx="18282481" cy="1049732"/>
            <a:chOff x="0" y="9235983"/>
            <a:chExt cx="18282481" cy="104973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235983"/>
              <a:ext cx="18282481" cy="1049732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19A06FE-E516-E093-2BF5-DE54FAEC8E0D}"/>
              </a:ext>
            </a:extLst>
          </p:cNvPr>
          <p:cNvSpPr txBox="1"/>
          <p:nvPr/>
        </p:nvSpPr>
        <p:spPr>
          <a:xfrm>
            <a:off x="510511" y="3665550"/>
            <a:ext cx="1726145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58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콜드체인 유통 박스 파손 실시간 모니터링 시스템 기획</a:t>
            </a:r>
            <a:endParaRPr kumimoji="1" lang="ko-Kore-KR" altLang="en-US" sz="58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85E002-A719-B882-D01B-58B6E66962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9" r="29926"/>
          <a:stretch/>
        </p:blipFill>
        <p:spPr>
          <a:xfrm>
            <a:off x="4146610" y="148180"/>
            <a:ext cx="9989257" cy="100415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9B553D-BF75-558E-D9C2-A53114B3C1C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0" t="74941"/>
          <a:stretch/>
        </p:blipFill>
        <p:spPr>
          <a:xfrm>
            <a:off x="5791200" y="9534884"/>
            <a:ext cx="6960810" cy="6039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093A2C-2530-8D37-7D70-DE9E100BA2C0}"/>
              </a:ext>
            </a:extLst>
          </p:cNvPr>
          <p:cNvSpPr txBox="1"/>
          <p:nvPr/>
        </p:nvSpPr>
        <p:spPr>
          <a:xfrm>
            <a:off x="13487400" y="8415937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36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202650089 </a:t>
            </a:r>
            <a:r>
              <a:rPr kumimoji="1" lang="ko-KR" altLang="en-US" sz="36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한성민</a:t>
            </a:r>
            <a:endParaRPr kumimoji="1" lang="ko-Kore-KR" altLang="en-US" sz="36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1664023-3CFA-164F-0DCC-F411CB0E7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027D424-3EBF-4986-65E9-D001EC411A42}"/>
              </a:ext>
            </a:extLst>
          </p:cNvPr>
          <p:cNvSpPr/>
          <p:nvPr/>
        </p:nvSpPr>
        <p:spPr>
          <a:xfrm>
            <a:off x="0" y="-43537"/>
            <a:ext cx="18288000" cy="1256092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4F6167-B137-27E1-AF57-3444730E45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37010D56-BF74-CD01-67D1-ECF1C86C57C0}"/>
              </a:ext>
            </a:extLst>
          </p:cNvPr>
          <p:cNvCxnSpPr>
            <a:cxnSpLocks/>
          </p:cNvCxnSpPr>
          <p:nvPr/>
        </p:nvCxnSpPr>
        <p:spPr>
          <a:xfrm flipV="1">
            <a:off x="1523810" y="3018058"/>
            <a:ext cx="15238095" cy="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8FD40A5D-1C95-43C7-B879-79F9990010DA}"/>
              </a:ext>
            </a:extLst>
          </p:cNvPr>
          <p:cNvCxnSpPr/>
          <p:nvPr/>
        </p:nvCxnSpPr>
        <p:spPr>
          <a:xfrm flipV="1">
            <a:off x="1523810" y="8732014"/>
            <a:ext cx="15238095" cy="1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4870D67-07ED-E5BE-FB65-9A4C221740A0}"/>
              </a:ext>
            </a:extLst>
          </p:cNvPr>
          <p:cNvSpPr txBox="1"/>
          <p:nvPr/>
        </p:nvSpPr>
        <p:spPr>
          <a:xfrm>
            <a:off x="1353957" y="1750011"/>
            <a:ext cx="235218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60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INDEX</a:t>
            </a:r>
            <a:endParaRPr kumimoji="1" lang="en-US" altLang="ko-KR" sz="6000" b="1" spc="-300" dirty="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kumimoji="1" lang="ko-Kore-KR" altLang="en-US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3807B0-37E2-933E-B47B-B51601D7FB97}"/>
              </a:ext>
            </a:extLst>
          </p:cNvPr>
          <p:cNvSpPr/>
          <p:nvPr/>
        </p:nvSpPr>
        <p:spPr>
          <a:xfrm>
            <a:off x="17726727" y="5678571"/>
            <a:ext cx="561273" cy="19047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7B77EC-EDE6-D46C-4217-6330E8015E8B}"/>
              </a:ext>
            </a:extLst>
          </p:cNvPr>
          <p:cNvSpPr txBox="1"/>
          <p:nvPr/>
        </p:nvSpPr>
        <p:spPr>
          <a:xfrm>
            <a:off x="2196736" y="3319671"/>
            <a:ext cx="4031873" cy="5026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연구 배경 및 필요성</a:t>
            </a:r>
            <a:endParaRPr kumimoji="1" lang="en-US" altLang="ko-KR" sz="2700" b="1" spc="-30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연구 연계성</a:t>
            </a:r>
            <a:endParaRPr kumimoji="1" lang="en-US" altLang="ko-KR" sz="2700" b="1" spc="-30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기술 원리</a:t>
            </a:r>
            <a:endParaRPr kumimoji="1" lang="en-US" altLang="ko-KR" sz="2700" b="1" spc="-30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대상 시스템 및 실증환경</a:t>
            </a:r>
            <a:endParaRPr kumimoji="1" lang="en-US" altLang="ko-KR" sz="2700" b="1" spc="-30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파이프라인</a:t>
            </a:r>
            <a:endParaRPr kumimoji="1" lang="en-US" altLang="ko-KR" sz="2700" b="1" spc="-30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결과</a:t>
            </a:r>
            <a:endParaRPr kumimoji="1" lang="en-US" altLang="ko-KR" sz="2700" b="1" spc="-30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 b="1" spc="-300">
                <a:solidFill>
                  <a:srgbClr val="00438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기대효과</a:t>
            </a:r>
            <a:endParaRPr kumimoji="1" lang="en-US" altLang="ko-KR" sz="2700" b="1" spc="-300" dirty="0">
              <a:solidFill>
                <a:srgbClr val="004386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lnSpc>
                <a:spcPct val="150000"/>
              </a:lnSpc>
            </a:pPr>
            <a:endParaRPr kumimoji="1" lang="ko-Kore-KR" altLang="en-US" sz="2700" dirty="0">
              <a:solidFill>
                <a:srgbClr val="004386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89AF-D0BC-8F5F-539C-C88D681A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D80510-2AFA-F2C4-4949-2DE9AF3769F2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081102-7474-E451-907A-DD1140A05247}"/>
              </a:ext>
            </a:extLst>
          </p:cNvPr>
          <p:cNvSpPr txBox="1"/>
          <p:nvPr/>
        </p:nvSpPr>
        <p:spPr>
          <a:xfrm>
            <a:off x="969320" y="342900"/>
            <a:ext cx="301076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연구배경 및 필요성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E3CD2DE-8EFB-7B7F-E325-046CC7330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67AF4D3-5379-F259-3DD1-DFADF40873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A3EC65-24B9-2FDC-A73B-15437C40B0CC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897B0-CF3C-B5EC-135E-298AFC54F5B0}"/>
              </a:ext>
            </a:extLst>
          </p:cNvPr>
          <p:cNvSpPr txBox="1"/>
          <p:nvPr/>
        </p:nvSpPr>
        <p:spPr>
          <a:xfrm>
            <a:off x="969320" y="1315435"/>
            <a:ext cx="10625025" cy="22736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전 세계 농산물 손실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수확 후 약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1/3(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연간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13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억 톤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이 폐기됨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(FAO).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국내 농산물 유통비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소비자 가격의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49.2%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가 유통 비용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온도 관리 실패와 더불어</a:t>
            </a:r>
            <a:r>
              <a:rPr kumimoji="1" lang="ko-KR" altLang="en-US" sz="2700" b="1">
                <a:latin typeface="NanumBarunGothic" panose="020B0603020101020101" pitchFamily="34" charset="-127"/>
                <a:ea typeface="NanumBarunGothic" panose="020B0603020101020101" pitchFamily="34" charset="-127"/>
              </a:rPr>
              <a:t> 물리적 충격 및 기계적 손상이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부패의 핵심 원인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endParaRPr kumimoji="1" lang="ko-Kore-KR" altLang="en-US" sz="27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0EBCE787-F14F-0449-85BD-BE6F4B31CFE2}"/>
              </a:ext>
            </a:extLst>
          </p:cNvPr>
          <p:cNvGrpSpPr/>
          <p:nvPr/>
        </p:nvGrpSpPr>
        <p:grpSpPr>
          <a:xfrm>
            <a:off x="9677400" y="5589611"/>
            <a:ext cx="7614397" cy="2979589"/>
            <a:chOff x="955873" y="4074040"/>
            <a:chExt cx="7614397" cy="2979589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A97302-3AB9-570E-AC24-AA264555F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9320" y="4074040"/>
              <a:ext cx="7600950" cy="1495425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FAF5088-A67C-06CB-E2B0-9EB47F01E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5873" y="5462954"/>
              <a:ext cx="7277100" cy="1590675"/>
            </a:xfrm>
            <a:prstGeom prst="rect">
              <a:avLst/>
            </a:prstGeom>
          </p:spPr>
        </p:pic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E3EE5441-FFF6-3D93-10DB-56B86A7E4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776" y="3987385"/>
            <a:ext cx="6657975" cy="119062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3100BCF-F469-9518-CBEA-39230170F4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5571" y="3987385"/>
            <a:ext cx="690562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6094-93A9-371B-2968-CA916C80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188F05-A4D3-7A2A-3FC3-60E55C8EB20C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C3582-D235-2021-3A2D-9B2DD4BD8B87}"/>
              </a:ext>
            </a:extLst>
          </p:cNvPr>
          <p:cNvSpPr txBox="1"/>
          <p:nvPr/>
        </p:nvSpPr>
        <p:spPr>
          <a:xfrm>
            <a:off x="969320" y="342900"/>
            <a:ext cx="281359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연구배경 및 필요성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3690DC3-90F0-0D98-F845-86967FD47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40E9075-542D-6E8F-8ADB-AB3879CA9E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849151-7C05-0C27-5786-A9DBC48E7851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895F3-C1AC-F56A-B02D-77539224650A}"/>
              </a:ext>
            </a:extLst>
          </p:cNvPr>
          <p:cNvSpPr txBox="1"/>
          <p:nvPr/>
        </p:nvSpPr>
        <p:spPr>
          <a:xfrm>
            <a:off x="969320" y="1315435"/>
            <a:ext cx="14129189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기존 시스템의 한계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온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·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습도 센서만으로는 박스의 찌그러짐이나 파손 등 물리적 사고를 감지 불가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포장재의 역할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박스는 단순 용기가 아닌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'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냉기 보존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'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과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'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물리적 보호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'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의 핵심 수단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해결책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영상 분석을 통한 </a:t>
            </a:r>
            <a:r>
              <a:rPr kumimoji="1" lang="ko-KR" altLang="en-US" sz="2700" b="1">
                <a:latin typeface="NanumBarunGothic" panose="020B0603020101020101" pitchFamily="34" charset="-127"/>
                <a:ea typeface="NanumBarunGothic" panose="020B0603020101020101" pitchFamily="34" charset="-127"/>
              </a:rPr>
              <a:t>비접촉</a:t>
            </a:r>
            <a:r>
              <a:rPr kumimoji="1" lang="en-US" altLang="ko-KR" sz="2700" b="1">
                <a:latin typeface="NanumBarunGothic" panose="020B0603020101020101" pitchFamily="34" charset="-127"/>
                <a:ea typeface="NanumBarunGothic" panose="020B0603020101020101" pitchFamily="34" charset="-127"/>
              </a:rPr>
              <a:t>·</a:t>
            </a:r>
            <a:r>
              <a:rPr kumimoji="1" lang="ko-KR" altLang="en-US" sz="2700" b="1">
                <a:latin typeface="NanumBarunGothic" panose="020B0603020101020101" pitchFamily="34" charset="-127"/>
                <a:ea typeface="NanumBarunGothic" panose="020B0603020101020101" pitchFamily="34" charset="-127"/>
              </a:rPr>
              <a:t>실시간 파손 탐지 시스템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도입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417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5C1C3-A9B0-4288-0141-5B8BE12B8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02521FE-6815-7EC5-C5E6-9D395A4AA8C8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895080-2948-6409-B00F-92116B4DF633}"/>
              </a:ext>
            </a:extLst>
          </p:cNvPr>
          <p:cNvSpPr txBox="1"/>
          <p:nvPr/>
        </p:nvSpPr>
        <p:spPr>
          <a:xfrm>
            <a:off x="969320" y="342900"/>
            <a:ext cx="11079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연계성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C978D31-8092-D6EE-F670-69ACE7CC2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E1DEAD-B276-70A4-1B01-66FF72383E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382B86-AD6B-8E7F-3EC2-EC82121FD33F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AE129-2166-5047-A365-33B2119FE496}"/>
              </a:ext>
            </a:extLst>
          </p:cNvPr>
          <p:cNvSpPr txBox="1"/>
          <p:nvPr/>
        </p:nvSpPr>
        <p:spPr>
          <a:xfrm>
            <a:off x="969320" y="1315435"/>
            <a:ext cx="12409166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기존 연구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QR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코드 기반 농산물 이력 추적 및 센서 기반  실시간 디지털 트윈 대시보드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연계성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기존 환경 데이터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수치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만으로는 유통 중 발생하는 물리적 파손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대응에 한계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유통 손실률을 획기적으로 낮출 수 있는 차세대 모델 제시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5048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F6672-1A4A-E638-F63D-EA73DC8D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5256600-A66D-D2B3-2E70-E3B4D7A68B9E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B457C-86FE-B8C1-929C-A97DAF070686}"/>
              </a:ext>
            </a:extLst>
          </p:cNvPr>
          <p:cNvSpPr txBox="1"/>
          <p:nvPr/>
        </p:nvSpPr>
        <p:spPr>
          <a:xfrm>
            <a:off x="969320" y="342900"/>
            <a:ext cx="499367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유통 과정 중 박스 파손의 주요 원인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4B34A0-B4F3-7A73-7F9C-345F746A3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8E57048-FC64-5A95-5F72-740D74FBB26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B40797-892C-D1C2-E154-AD5410135EEA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A910F-A843-8B1D-12A5-350E2A5E86DF}"/>
              </a:ext>
            </a:extLst>
          </p:cNvPr>
          <p:cNvSpPr txBox="1"/>
          <p:nvPr/>
        </p:nvSpPr>
        <p:spPr>
          <a:xfrm>
            <a:off x="969320" y="1315435"/>
            <a:ext cx="4491935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과도한 적재 압력 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물리적 충격 및 취급 부주의 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습기 및 결로 현상 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pic>
        <p:nvPicPr>
          <p:cNvPr id="1028" name="Picture 4" descr="A close-up of a pallet in a warehouse with cardboard boxes on top of it. A box stacked on the bottom is being crushed.">
            <a:extLst>
              <a:ext uri="{FF2B5EF4-FFF2-40B4-BE49-F238E27FC236}">
                <a16:creationId xmlns:a16="http://schemas.microsoft.com/office/drawing/2014/main" id="{0D5CD293-00F5-8A0F-37C4-EB60A14D0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457700"/>
            <a:ext cx="6477000" cy="3390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56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ACA70-CAE3-5D17-1144-DCCBD2E55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116226A-364C-9B00-072F-17AF368197F7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C1B52-EE2B-12ED-B448-C8CE5D2CA9E7}"/>
              </a:ext>
            </a:extLst>
          </p:cNvPr>
          <p:cNvSpPr txBox="1"/>
          <p:nvPr/>
        </p:nvSpPr>
        <p:spPr>
          <a:xfrm>
            <a:off x="969320" y="342900"/>
            <a:ext cx="419858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핵심 기술 원리 </a:t>
            </a:r>
            <a:r>
              <a:rPr kumimoji="1" lang="en-US" altLang="ko-KR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(1) - </a:t>
            </a:r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에지 탐지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7454F23-1E15-C7CF-7CA2-D1E157B8C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00F583C-2CB7-1DB4-C2BB-205D3E96B4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2E99D2-EF72-335D-C612-E3571575DD52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93BB9D-D604-A2F3-3626-FF98348FFBA6}"/>
              </a:ext>
            </a:extLst>
          </p:cNvPr>
          <p:cNvSpPr txBox="1"/>
          <p:nvPr/>
        </p:nvSpPr>
        <p:spPr>
          <a:xfrm>
            <a:off x="969320" y="1315435"/>
            <a:ext cx="12337032" cy="4143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Edge Detection 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영상에서 밝기 값이 갑자기 변하는 경계선을 찾는 기술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적용 원리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200000"/>
              </a:lnSpc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   -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정상 박스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표면 밝기가 일정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매끄러움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).</a:t>
            </a:r>
          </a:p>
          <a:p>
            <a:pPr>
              <a:lnSpc>
                <a:spcPct val="200000"/>
              </a:lnSpc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   -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파손 박스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찢어진 틈새나 주름에 그림자가 생겨 **밝기가 급격히 변화**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에지 발생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).</a:t>
            </a:r>
          </a:p>
          <a:p>
            <a:pPr>
              <a:lnSpc>
                <a:spcPct val="200000"/>
              </a:lnSpc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활용 도구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영상 처리에서 가장 정교한 **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Canny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에지 탐지 기법** 활용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500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9FCA-B312-73DE-26AA-DB0BE053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1A341675-4988-0C3A-E054-BF163B959543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28FEC-DF7D-5413-F737-71A741C97490}"/>
              </a:ext>
            </a:extLst>
          </p:cNvPr>
          <p:cNvSpPr txBox="1"/>
          <p:nvPr/>
        </p:nvSpPr>
        <p:spPr>
          <a:xfrm>
            <a:off x="969320" y="342900"/>
            <a:ext cx="419858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핵심 기술 원리 </a:t>
            </a:r>
            <a:r>
              <a:rPr kumimoji="1" lang="en-US" altLang="ko-KR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(2) - </a:t>
            </a:r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질감 분석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88D16B1-CE07-F788-A591-0BC9BB558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E53759D-0612-BA9F-8BAD-69EF1DF9467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EAB2023-34B9-ED77-E520-107B930F3BA9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D113-7022-35E5-E3B0-E2663B0C3B81}"/>
              </a:ext>
            </a:extLst>
          </p:cNvPr>
          <p:cNvSpPr txBox="1"/>
          <p:nvPr/>
        </p:nvSpPr>
        <p:spPr>
          <a:xfrm>
            <a:off x="969320" y="1315435"/>
            <a:ext cx="11392862" cy="33124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질감 분석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표면이 매끄러운지 거친지를 분석하는 기술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적용 원리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>
              <a:lnSpc>
                <a:spcPct val="200000"/>
              </a:lnSpc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   -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파손된 부위는 찢겨진 결로 인해 표면이 불규칙하고 거칠어짐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>
              <a:lnSpc>
                <a:spcPct val="200000"/>
              </a:lnSpc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기대 효과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단순히 선을 찾는 것을 넘어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박스의 실제 손상 상태를 입체적으로 파악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579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C14B1-343E-1456-8754-E93A925F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D59B900-1CC9-C0EA-81F0-67BBBD159B1C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4ED27-D7A2-28B1-E96D-814E58249EB5}"/>
              </a:ext>
            </a:extLst>
          </p:cNvPr>
          <p:cNvSpPr txBox="1"/>
          <p:nvPr/>
        </p:nvSpPr>
        <p:spPr>
          <a:xfrm>
            <a:off x="969320" y="342900"/>
            <a:ext cx="18069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대상 시스템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F3FB8B-D4ED-B341-FE68-168FEDD54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E57D1A-5393-49F9-4C0F-E8E07CAED2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92251F-7B1D-6772-0EBE-6A3175CC4BAB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96E09A-9C8D-D4EF-16E0-0B30AC2F60EA}"/>
              </a:ext>
            </a:extLst>
          </p:cNvPr>
          <p:cNvSpPr txBox="1"/>
          <p:nvPr/>
        </p:nvSpPr>
        <p:spPr>
          <a:xfrm>
            <a:off x="969320" y="1281952"/>
            <a:ext cx="11362534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메인 장치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NVIDIA Jetson Orin Nano (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저전력 실시간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AI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처리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), ESP32-S3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카메라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120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도 광각 카메라</a:t>
            </a:r>
            <a:endParaRPr kumimoji="1" lang="en-US" altLang="ko-KR" sz="270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통신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LTE/5G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를 통한 디지털 트윈 대시보드 실시간 연동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2286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2D1A5-84A1-F13B-0DA9-1592BD25C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FDB47E1-F31A-C64F-4814-BDFF1235331E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B0DC5-1257-3B71-172F-1D4164C8E3DC}"/>
              </a:ext>
            </a:extLst>
          </p:cNvPr>
          <p:cNvSpPr txBox="1"/>
          <p:nvPr/>
        </p:nvSpPr>
        <p:spPr>
          <a:xfrm>
            <a:off x="969320" y="342900"/>
            <a:ext cx="236635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실증 실험 환경 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AF6BDF5-515D-1944-D377-982B0FD4E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93CC763-259F-2612-2D94-506B0D455A9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006C35-4510-3563-CA2E-FB2AE71AAA09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E2802-39FA-E013-B24A-DF372D97314F}"/>
              </a:ext>
            </a:extLst>
          </p:cNvPr>
          <p:cNvSpPr txBox="1"/>
          <p:nvPr/>
        </p:nvSpPr>
        <p:spPr>
          <a:xfrm>
            <a:off x="969320" y="1315435"/>
            <a:ext cx="11604459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목적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기획된 알고리즘이 실제 사진 데이터에서 작동하는지 사전 검증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환경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개인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PC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및 파이썬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(OpenCV)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라이브러리 활용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데이터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스마트폰 카메라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(iphone 17)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로 직접 촬영한 정상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파손 박스 샘플 영상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236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58A89-4683-610C-E4EA-A13D38468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D2EFB118-3161-96B7-97E2-0FA42BD055F7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89AA2-C231-68DC-2E54-E6DAE596F6FD}"/>
              </a:ext>
            </a:extLst>
          </p:cNvPr>
          <p:cNvSpPr txBox="1"/>
          <p:nvPr/>
        </p:nvSpPr>
        <p:spPr>
          <a:xfrm>
            <a:off x="969320" y="342900"/>
            <a:ext cx="172354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파이프라인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7A937B-FCCC-E782-7950-5A9AF3030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0FDF8C-9616-BEF1-48BF-9A4B9EC1FD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A44B5A-9BF6-DC4B-51A0-4CAF9B2B711D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2F4D7-30E3-28C7-9446-B33C379BE76F}"/>
              </a:ext>
            </a:extLst>
          </p:cNvPr>
          <p:cNvSpPr txBox="1"/>
          <p:nvPr/>
        </p:nvSpPr>
        <p:spPr>
          <a:xfrm>
            <a:off x="969320" y="1555455"/>
            <a:ext cx="9954969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Grayscale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 변환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컬러 정보를 제거하여 분석 효율 향상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노이즈 제거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메디안 필터를 적용하여 영상의 잡티를 깨끗하게 정리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파손 부위 추출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에지 탐지를 통해 파손된 선들을 검출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2759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8D1CF-82B3-6547-4CA8-4FC62B31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2FF66A6-9EAE-C98E-AB28-3DFA2442B8ED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6151C2-1F69-E89E-2678-742F87F1786D}"/>
              </a:ext>
            </a:extLst>
          </p:cNvPr>
          <p:cNvSpPr txBox="1"/>
          <p:nvPr/>
        </p:nvSpPr>
        <p:spPr>
          <a:xfrm>
            <a:off x="969320" y="342900"/>
            <a:ext cx="380745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실험 및 결과 </a:t>
            </a:r>
            <a:r>
              <a:rPr kumimoji="1" lang="en-US" altLang="ko-KR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(1) - </a:t>
            </a:r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시행착오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8D5DF6A-3E6C-3A56-61AB-1C3DDADC7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F765F7A-EA26-B4FA-D28D-0BEF31905A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DF3D90-EA9B-80A7-2860-E78C6BC74BAB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2261E-6F05-1D8C-623C-6E52574FD5B7}"/>
              </a:ext>
            </a:extLst>
          </p:cNvPr>
          <p:cNvSpPr txBox="1"/>
          <p:nvPr/>
        </p:nvSpPr>
        <p:spPr>
          <a:xfrm>
            <a:off x="969320" y="1315435"/>
            <a:ext cx="12042079" cy="1910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1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차 실험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복잡한 자갈 바닥에서 수행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문제점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자갈 무늬가 모두 파손된 선으로 오인되어 정확한 구분이 불가능함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분석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소프트웨어적 처리만으로는 복잡한 배경 노이즈를 완벽히 제거하기 어려움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B4D61D-15ED-D15A-6610-77957D523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094" y="3543300"/>
            <a:ext cx="9067811" cy="604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385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BB78E-7D25-132D-4766-6B97CDA76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1E879F3-C262-15D9-C9F6-D9D0534338D9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7BF90-8DEB-1B59-9696-2950F09451CB}"/>
              </a:ext>
            </a:extLst>
          </p:cNvPr>
          <p:cNvSpPr txBox="1"/>
          <p:nvPr/>
        </p:nvSpPr>
        <p:spPr>
          <a:xfrm>
            <a:off x="969320" y="342900"/>
            <a:ext cx="349967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실험 및 결과 </a:t>
            </a:r>
            <a:r>
              <a:rPr kumimoji="1" lang="en-US" altLang="ko-KR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(2) - </a:t>
            </a:r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최적화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8A92A37-949E-1F75-807C-FC47FCF15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54D048-FFF7-1DCE-25EC-9B2E538D2E4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BAC9F9-7CF0-4720-E48B-D4897E77796B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C1635-4E93-CE88-DDFE-48A75B29E6CC}"/>
              </a:ext>
            </a:extLst>
          </p:cNvPr>
          <p:cNvSpPr txBox="1"/>
          <p:nvPr/>
        </p:nvSpPr>
        <p:spPr>
          <a:xfrm>
            <a:off x="969320" y="1315435"/>
            <a:ext cx="13225095" cy="1910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2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차 실험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배경을 깨끗한 흰색으로 정리 후 재실험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결과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배경 노이즈가 사라지자 파손된 부위의 선들이 선명하게 추출됨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15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결론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알고리즘 성능만큼이나 **카메라 촬영 환경 관리**가 분석 정확도에 결정적임을 확인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99F730-CFF7-3416-2FC0-2F8960FB4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766" y="3328453"/>
            <a:ext cx="7664467" cy="638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3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AC292-E141-E6D6-4CA0-39971350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9D96EC6-8BB7-113B-B603-C9C16743FD11}"/>
              </a:ext>
            </a:extLst>
          </p:cNvPr>
          <p:cNvSpPr/>
          <p:nvPr/>
        </p:nvSpPr>
        <p:spPr>
          <a:xfrm>
            <a:off x="0" y="0"/>
            <a:ext cx="18288000" cy="1212555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7C63D-57D3-F87C-A9D2-C6FF835B79ED}"/>
              </a:ext>
            </a:extLst>
          </p:cNvPr>
          <p:cNvSpPr txBox="1"/>
          <p:nvPr/>
        </p:nvSpPr>
        <p:spPr>
          <a:xfrm>
            <a:off x="969320" y="342900"/>
            <a:ext cx="80021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700" b="1" spc="-30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결론</a:t>
            </a:r>
            <a:endParaRPr kumimoji="1" lang="ko-Kore-KR" altLang="en-US" sz="2700" b="1" spc="-3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85FC0B-5418-8CD8-A0A1-630C57085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083260"/>
            <a:ext cx="2743200" cy="644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7EB53EA-FC92-6A85-674B-57923C15CF5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37" t="23676" r="23361" b="27083"/>
          <a:stretch/>
        </p:blipFill>
        <p:spPr>
          <a:xfrm>
            <a:off x="14325600" y="-91674"/>
            <a:ext cx="3429000" cy="134897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4484BC-BE5E-DF80-ED1C-1BFCE54024C5}"/>
              </a:ext>
            </a:extLst>
          </p:cNvPr>
          <p:cNvSpPr/>
          <p:nvPr/>
        </p:nvSpPr>
        <p:spPr>
          <a:xfrm>
            <a:off x="17726727" y="5153105"/>
            <a:ext cx="561273" cy="190476"/>
          </a:xfrm>
          <a:prstGeom prst="rect">
            <a:avLst/>
          </a:prstGeom>
          <a:solidFill>
            <a:srgbClr val="0043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F19E2-6192-EFFA-1817-0935D3938D67}"/>
              </a:ext>
            </a:extLst>
          </p:cNvPr>
          <p:cNvSpPr txBox="1"/>
          <p:nvPr/>
        </p:nvSpPr>
        <p:spPr>
          <a:xfrm>
            <a:off x="969320" y="1790700"/>
            <a:ext cx="12968615" cy="2481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농산물 손실 최소화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파손의 조기 발견을 통해 신선도 저하 및 폐기율 감소 기여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유통 투명성 확보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단계별 영상 로그를 통해 사고 시 책임 소재 명확화 및 물류 신뢰도 향상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514350" indent="-514350">
              <a:lnSpc>
                <a:spcPct val="200000"/>
              </a:lnSpc>
              <a:buAutoNum type="arabicPlain"/>
            </a:pP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확장성 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: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과채류뿐만 아니라 의약품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kumimoji="1" lang="ko-KR" altLang="en-US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취급주의 택배 등 고부가가치 산업에  적용 가능</a:t>
            </a:r>
            <a:r>
              <a:rPr kumimoji="1" lang="en-US" altLang="ko-KR" sz="2700"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583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552</Words>
  <Application>Microsoft Office PowerPoint</Application>
  <PresentationFormat>사용자 지정</PresentationFormat>
  <Paragraphs>62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NanumBarunGothic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성민 한</cp:lastModifiedBy>
  <cp:revision>10</cp:revision>
  <dcterms:created xsi:type="dcterms:W3CDTF">2024-03-21T14:34:25Z</dcterms:created>
  <dcterms:modified xsi:type="dcterms:W3CDTF">2026-05-10T10:39:34Z</dcterms:modified>
</cp:coreProperties>
</file>